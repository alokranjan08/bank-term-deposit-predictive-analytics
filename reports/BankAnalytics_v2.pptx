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2753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Term Deposit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11480" y="173736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11480" y="2606040"/>
            <a:ext cx="2286000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788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  |  BCA / Data Science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 ·  Regression  ·  Time Series Forecasting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517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144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43000" y="2103120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2240280"/>
            <a:ext cx="2423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waste millions on cold calls.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WHO to call and HOW LONG it will take?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6517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9144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0040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023360" y="2103120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2240280"/>
            <a:ext cx="2423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Bank Marketing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41,000+ customer records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Portuguese bank telemarketing data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822960"/>
            <a:ext cx="26517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9144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08076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903720" y="2103120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2240280"/>
            <a:ext cx="2423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objectives: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· Regression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Forecasting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Key Observations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41,188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82296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822960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097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60320" y="1737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Subscribed (Yes)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51460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514600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788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0040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0" y="251460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0" y="2514600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2788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560320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(y)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822960"/>
            <a:ext cx="4069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914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892040" y="1417320"/>
            <a:ext cx="3794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Target 'y' is highly imbalanced → SMOTE applied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May, Jul &amp; Aug have highest subscription rates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Longer calls correlate with higher success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Retired &amp; student customers subscribe more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Economic indicators (euribor3m) are strong predictors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822960"/>
            <a:ext cx="1508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22960"/>
            <a:ext cx="150876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2296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9184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Target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9184" y="1965960"/>
            <a:ext cx="1371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y: yes→1, no→0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(Binary mapping)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764792" y="2194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993392" y="822960"/>
            <a:ext cx="1508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93392" y="822960"/>
            <a:ext cx="150876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82296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66544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066544" y="1965960"/>
            <a:ext cx="1371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→ LabelEncoder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→ One-Hot Encoding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02152" y="2194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30752" y="822960"/>
            <a:ext cx="1508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30752" y="822960"/>
            <a:ext cx="150876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30752" y="82296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803904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803904" y="1965960"/>
            <a:ext cx="1371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 for class balance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39512" y="2194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68112" y="822960"/>
            <a:ext cx="1508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68112" y="822960"/>
            <a:ext cx="1508760" cy="5669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68112" y="82296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541264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541264" y="1965960"/>
            <a:ext cx="1371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Oversample minority class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(applied on train only)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76872" y="2194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205472" y="822960"/>
            <a:ext cx="1508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05472" y="822960"/>
            <a:ext cx="150876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05472" y="82296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278624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278624" y="1965960"/>
            <a:ext cx="1371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 LR, NB, SVM only)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74320" y="448056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Data Leakage Note: 'duration' excluded from classification features — it is only known post-call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 — Classification  |  Why These Algorithms?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772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a customer will subscribe to a term deposit (Yes / No)  →  Binary Classification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63040"/>
            <a:ext cx="292608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63040"/>
            <a:ext cx="292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14996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58368" y="17922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Baseline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78608" y="1517904"/>
            <a:ext cx="6172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as the statistical baseline — it models the probability of a binary outcome using a linear decision boundary. Its coefficients are directly interpretable, making it easy to explain which features increase or decrease the chance of subscription.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157984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57984"/>
            <a:ext cx="292608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157984"/>
            <a:ext cx="292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8368" y="24871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Model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78608" y="2212848"/>
            <a:ext cx="6172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its speed and simplicity with categorical data. It applies Bayes' theorem assuming feature independence — a strong but effective assumption for this dataset after encoding.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852928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852928"/>
            <a:ext cx="292608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852928"/>
            <a:ext cx="292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" y="28895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8368" y="31821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&amp; Interpretable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78608" y="2907792"/>
            <a:ext cx="6172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because it handles non-linear relationships without scaling, and its tree structure is easy to visualise and explain to a non-technical audience. We used max_depth=8 to prevent overfitting.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547872"/>
            <a:ext cx="8595360" cy="62179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547872"/>
            <a:ext cx="292608" cy="6217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547872"/>
            <a:ext cx="292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" y="3584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58368" y="38770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Performer  ✅  AUC = 0.91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578608" y="3602736"/>
            <a:ext cx="6172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as the ensemble upgrade to Decision Tree. It builds 150 trees and averages their votes, which significantly reduces overfitting and variance. It also provides feature importance scores — a major business insight.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4242816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4242816"/>
            <a:ext cx="292608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242816"/>
            <a:ext cx="292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8368" y="4279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 (LinearSVC)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58368" y="45720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Dataset Optimised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578608" y="4297680"/>
            <a:ext cx="6172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because SVMs find the optimal hyperplane that maximises the margin between classes. LinearSVC was used (not kernel SVM) because it is computationally efficient on 41,000+ rows.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 — Model Comparison Results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884088"/>
              </p:ext>
            </p:extLst>
          </p:nvPr>
        </p:nvGraphicFramePr>
        <p:xfrm>
          <a:off x="274320" y="777240"/>
          <a:ext cx="8595360" cy="35661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 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 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(LinearSVC)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48056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ROC-AUC is the primary metric for imbalanced data — Accuracy alone is misleading when only 11% of customers subscribed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 — Regression  |  Why These Algorithms?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772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duration of a marketing call (in seconds) from pre-call customer features  →  Regression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8595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81328"/>
            <a:ext cx="292608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81328"/>
            <a:ext cx="2926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1554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8368" y="19019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 ~0.08   RMSE: ~195s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5544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because it is the core statistical model for predicting a continuous target variable. It fits a straight line through all 20 features to estimate call duration. We used it as the baseline to understand how much of the variance in duration can be explained by a linear relationship.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035808"/>
            <a:ext cx="8595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035808"/>
            <a:ext cx="292608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035808"/>
            <a:ext cx="2926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" y="3108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Regressor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" y="34564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 ~0.18   RMSE: ~168s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310896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to compare against Linear Regression by capturing non-linear patterns. Call duration is unlikely to follow a perfectly straight line, so a tree-based model can potentially find more complex splits. We used max_depth=8 to balance complexity and generalisability.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Note: Low R² is expected here — call duration is driven by real-time conversation dynamics that pre-call features alone cannot fully capture. This is an exploratory exercise.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 — Time Series Forecasting  |  Why ARIMA?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772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the monthly subscription rate to help the bank plan future campaigns  →  Time Series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1148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63040"/>
            <a:ext cx="41148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ARIMA?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938528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(AutoRegressive Integrated Moving Average) was chosen because:
</a:t>
            </a: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standard forecasting model covered in our syllabus
</a:t>
            </a: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models both trend (d=1 differencing) and autocorrelation (p=1) in time series data
</a:t>
            </a: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applies a Moving Average component (q=1) to smooth out random noise
</a:t>
            </a: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ARIMA(1,1,1)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selected as a simple, justified order suitable for our 10-month dataset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2062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463040"/>
            <a:ext cx="420624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4630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Business Value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96596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Modelled monthly subscription rate (Mar–Dec)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Forecasted 3 future months using ARIMA(1,1,1)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Seasonal peaks identified: Sep &amp; Oct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Helps bank schedule campaigns in advance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Covers Time Series module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Seasonal Peaks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campaigns in May, July &amp; August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subscription rates are highest.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72968" y="82296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72968" y="9144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64408" y="14173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Key Segments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64408" y="175564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 &amp; student customers subscribe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— target them first.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71616" y="82296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71616" y="9144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📞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63056" y="14173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Duration Baseline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63056" y="175564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calls = higher success.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agents for quality conversations.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29260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5760" y="34290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Wasteful Calls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376732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model to filter low-potential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— cut costs significantly.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72968" y="283464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172968" y="29260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64408" y="34290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Economic Signals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64408" y="376732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Euribor3m &amp; employment rate are top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 — track macro indicators.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71616" y="283464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71616" y="29260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🗓️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163056" y="34290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with Forecasts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63056" y="376732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forecast guides staffing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planning month-by-month.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1234440"/>
            <a:ext cx="8321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Classification — 5 algorithms compared with Accuracy, F1 &amp; ROC-AUC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Imbalanced data handled with SMOTE (train only)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Proper encoding — One-Hot for nominal, Label for ordinal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Regression — Linear &amp; Decision Tree with R² and RMSE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Time Series — ARIMA forecast of monthly subscription rate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Data leakage identified and documented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4480560"/>
            <a:ext cx="83210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57200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1055</Words>
  <Application>Microsoft Office PowerPoint</Application>
  <PresentationFormat>On-screen Show (16:9)</PresentationFormat>
  <Paragraphs>184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Term Deposit Predictive Analytics</dc:title>
  <dc:subject>PptxGenJS Presentation</dc:subject>
  <dc:creator>PptxGenJS</dc:creator>
  <cp:lastModifiedBy>Pawash Kumar</cp:lastModifiedBy>
  <cp:revision>2</cp:revision>
  <dcterms:created xsi:type="dcterms:W3CDTF">2026-04-19T18:57:26Z</dcterms:created>
  <dcterms:modified xsi:type="dcterms:W3CDTF">2026-04-19T20:10:01Z</dcterms:modified>
</cp:coreProperties>
</file>